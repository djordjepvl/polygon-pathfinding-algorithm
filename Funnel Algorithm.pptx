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D84209EC-1488-4E82-9F72-DBA324CD659A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3753D65D-F2C0-4A3E-A102-D5F7AD25A00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771445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209EC-1488-4E82-9F72-DBA324CD659A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3D65D-F2C0-4A3E-A102-D5F7AD25A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191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209EC-1488-4E82-9F72-DBA324CD659A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3D65D-F2C0-4A3E-A102-D5F7AD25A00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37073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209EC-1488-4E82-9F72-DBA324CD659A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3D65D-F2C0-4A3E-A102-D5F7AD25A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734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209EC-1488-4E82-9F72-DBA324CD659A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3D65D-F2C0-4A3E-A102-D5F7AD25A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453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209EC-1488-4E82-9F72-DBA324CD659A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3D65D-F2C0-4A3E-A102-D5F7AD25A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133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209EC-1488-4E82-9F72-DBA324CD659A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3D65D-F2C0-4A3E-A102-D5F7AD25A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155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209EC-1488-4E82-9F72-DBA324CD659A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3D65D-F2C0-4A3E-A102-D5F7AD25A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211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209EC-1488-4E82-9F72-DBA324CD659A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3D65D-F2C0-4A3E-A102-D5F7AD25A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373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209EC-1488-4E82-9F72-DBA324CD659A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3D65D-F2C0-4A3E-A102-D5F7AD25A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070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209EC-1488-4E82-9F72-DBA324CD659A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3D65D-F2C0-4A3E-A102-D5F7AD25A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87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D84209EC-1488-4E82-9F72-DBA324CD659A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3753D65D-F2C0-4A3E-A102-D5F7AD25A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298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89D98-3CCF-99FB-CF47-788BCC3026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r-Latn-RS" noProof="0" dirty="0"/>
              <a:t>Funnel Algoritam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7FA743-AC13-4027-C8D3-EDCDF28F62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r-Latn-RS" noProof="0" dirty="0"/>
              <a:t>Đorđe Pavlović RN 21/202</a:t>
            </a:r>
            <a:r>
              <a:rPr lang="en-US" noProof="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70150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968A1B9-10FD-3317-88F3-EFEB23B87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Zadatak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9668B62-155C-E9CD-C1E2-C8CC67A1C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Za dati prost poligon P i dve tačke A i B unutar tog poligona, pronađi najkraći put od A do B unutar poligona P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D84813E-9680-712B-F1FF-FB1EFE4709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917" y="2888615"/>
            <a:ext cx="3810000" cy="3429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55FFE3A-3226-C783-F632-465DE340E4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7362" y="2888615"/>
            <a:ext cx="3810000" cy="3429000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785EC34B-78BB-9FCC-207E-981913F3068A}"/>
              </a:ext>
            </a:extLst>
          </p:cNvPr>
          <p:cNvSpPr/>
          <p:nvPr/>
        </p:nvSpPr>
        <p:spPr>
          <a:xfrm>
            <a:off x="4897588" y="4150353"/>
            <a:ext cx="1589103" cy="90552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373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04502-54EA-E32F-8791-441A67FA3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</a:t>
            </a:r>
            <a:r>
              <a:rPr lang="sr-Latn-RS" dirty="0"/>
              <a:t>šenje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894C3-B710-9549-4CE2-8802DD7B0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4345709" cy="4351337"/>
          </a:xfrm>
        </p:spPr>
        <p:txBody>
          <a:bodyPr/>
          <a:lstStyle/>
          <a:p>
            <a:r>
              <a:rPr lang="en-US" dirty="0"/>
              <a:t>1. </a:t>
            </a:r>
            <a:r>
              <a:rPr lang="en-US" dirty="0" err="1"/>
              <a:t>Triangulacija</a:t>
            </a:r>
            <a:r>
              <a:rPr lang="en-US" dirty="0"/>
              <a:t> – </a:t>
            </a:r>
            <a:r>
              <a:rPr lang="en-US" dirty="0" err="1"/>
              <a:t>Prvo</a:t>
            </a:r>
            <a:r>
              <a:rPr lang="en-US" dirty="0"/>
              <a:t> </a:t>
            </a:r>
            <a:r>
              <a:rPr lang="en-US" dirty="0" err="1"/>
              <a:t>radimo</a:t>
            </a:r>
            <a:r>
              <a:rPr lang="en-US" dirty="0"/>
              <a:t> </a:t>
            </a:r>
            <a:r>
              <a:rPr lang="en-US" dirty="0" err="1"/>
              <a:t>triangulaciju</a:t>
            </a:r>
            <a:r>
              <a:rPr lang="en-US" dirty="0"/>
              <a:t> </a:t>
            </a:r>
            <a:r>
              <a:rPr lang="en-US" dirty="0" err="1"/>
              <a:t>nad</a:t>
            </a:r>
            <a:r>
              <a:rPr lang="en-US" dirty="0"/>
              <a:t> </a:t>
            </a:r>
            <a:r>
              <a:rPr lang="en-US" dirty="0" err="1"/>
              <a:t>poligonom</a:t>
            </a:r>
            <a:r>
              <a:rPr lang="en-US" dirty="0"/>
              <a:t>, pod </a:t>
            </a:r>
            <a:r>
              <a:rPr lang="en-US" dirty="0" err="1"/>
              <a:t>uslovom</a:t>
            </a:r>
            <a:r>
              <a:rPr lang="en-US" dirty="0"/>
              <a:t> da on ne </a:t>
            </a:r>
            <a:r>
              <a:rPr lang="en-US" dirty="0" err="1"/>
              <a:t>stvara</a:t>
            </a:r>
            <a:r>
              <a:rPr lang="en-US" dirty="0"/>
              <a:t> </a:t>
            </a:r>
            <a:r>
              <a:rPr lang="en-US" dirty="0" err="1"/>
              <a:t>nove</a:t>
            </a:r>
            <a:r>
              <a:rPr lang="en-US" dirty="0"/>
              <a:t> vertex-e</a:t>
            </a:r>
          </a:p>
          <a:p>
            <a:r>
              <a:rPr lang="en-US" dirty="0" err="1"/>
              <a:t>Zbog</a:t>
            </a:r>
            <a:r>
              <a:rPr lang="en-US" dirty="0"/>
              <a:t> toga </a:t>
            </a:r>
            <a:r>
              <a:rPr lang="en-US" dirty="0" err="1"/>
              <a:t>koristimo</a:t>
            </a:r>
            <a:r>
              <a:rPr lang="en-US" dirty="0"/>
              <a:t> ear clipping </a:t>
            </a:r>
            <a:r>
              <a:rPr lang="en-US" dirty="0" err="1"/>
              <a:t>algoritam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7F9982-5640-9BB9-6E70-729D5AA8C1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9934" y="1032163"/>
            <a:ext cx="5326303" cy="4793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539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172ED-049F-9A93-F6BF-A3C4FB3E3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BA277-1363-2379-EAA9-23784AC73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</a:t>
            </a:r>
            <a:r>
              <a:rPr lang="sr-Latn-RS" dirty="0"/>
              <a:t>šenje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713AD-8A5C-6930-E245-146646F845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4335364" cy="4351337"/>
          </a:xfrm>
        </p:spPr>
        <p:txBody>
          <a:bodyPr/>
          <a:lstStyle/>
          <a:p>
            <a:r>
              <a:rPr lang="sr-Latn-RS" dirty="0"/>
              <a:t>2. Kreiranje grafa – svaki trougao je node i svaka deljena stranica između njih je edge</a:t>
            </a:r>
          </a:p>
          <a:p>
            <a:r>
              <a:rPr lang="sr-Latn-RS" dirty="0"/>
              <a:t>Pošto smo koristili ear clipping, garantovano je da će ovaj graf biti stablo i neće imati cikluse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5D5A46-1984-13CF-1606-39900F9031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9637" y="1041400"/>
            <a:ext cx="5305778" cy="477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38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1628F-EC32-32E8-D995-4A5921B27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7128B-B30E-0542-189F-D38FB1522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</a:t>
            </a:r>
            <a:r>
              <a:rPr lang="sr-Latn-RS" dirty="0"/>
              <a:t>šenje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36BDA-D657-6964-F913-8A683CD0D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2617401" cy="4351337"/>
          </a:xfrm>
        </p:spPr>
        <p:txBody>
          <a:bodyPr/>
          <a:lstStyle/>
          <a:p>
            <a:r>
              <a:rPr lang="sr-Latn-RS" dirty="0"/>
              <a:t>3. BFS – radimo bfs u grafu da bi smo našli put od trogula u kome je tačka A do trougla u kome je tačka 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DD25D9-E6CF-551E-3C2A-BE2FEE4EB2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8983" y="785090"/>
            <a:ext cx="6126788" cy="5514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379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51E8A-F9A6-459E-7975-AA248B32F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7DBA0-8BE7-9C7E-547C-FEAD5DECD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</a:t>
            </a:r>
            <a:r>
              <a:rPr lang="sr-Latn-RS" dirty="0"/>
              <a:t>šenje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67905-87A9-E9DC-8AFE-AC7F6F9AC6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3485619" cy="4351337"/>
          </a:xfrm>
        </p:spPr>
        <p:txBody>
          <a:bodyPr/>
          <a:lstStyle/>
          <a:p>
            <a:r>
              <a:rPr lang="sr-Latn-RS" dirty="0"/>
              <a:t>4. Nakon bfs dobijamo niz trouglova u kome je garantovano da se nalazi naš najkraći put. Sada se problem svodi na to da nađemo tačno koji je to put i to će nam rešiti funnel algoritam.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F6DF5D-651A-D4E3-B1C6-F7D579B725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9494" y="841345"/>
            <a:ext cx="5740753" cy="5166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633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90137-4CBD-14FB-3D27-BB6D63B20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AA20D-CB7A-15A6-3122-36912A307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</a:t>
            </a:r>
            <a:r>
              <a:rPr lang="sr-Latn-RS" dirty="0"/>
              <a:t>šenje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B5269-E198-06CA-4EE6-C76EA88008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3827364" cy="4351337"/>
          </a:xfrm>
        </p:spPr>
        <p:txBody>
          <a:bodyPr/>
          <a:lstStyle/>
          <a:p>
            <a:r>
              <a:rPr lang="sr-Latn-RS" dirty="0"/>
              <a:t>5. Identifikujemo </a:t>
            </a:r>
            <a:r>
              <a:rPr lang="en-US" dirty="0"/>
              <a:t>“</a:t>
            </a:r>
            <a:r>
              <a:rPr lang="en-US" dirty="0" err="1"/>
              <a:t>portale</a:t>
            </a:r>
            <a:r>
              <a:rPr lang="en-US" dirty="0"/>
              <a:t>”</a:t>
            </a:r>
            <a:r>
              <a:rPr lang="sr-Latn-RS" dirty="0"/>
              <a:t> - p</a:t>
            </a:r>
            <a:r>
              <a:rPr lang="en-US" dirty="0" err="1"/>
              <a:t>ortali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sr-Latn-RS" dirty="0"/>
              <a:t> (u ovom redosledu)</a:t>
            </a:r>
            <a:r>
              <a:rPr lang="en-US" dirty="0"/>
              <a:t> – </a:t>
            </a:r>
            <a:r>
              <a:rPr lang="sr-Latn-RS" dirty="0"/>
              <a:t>tačka A, stranica koju dele prvi i drugi trougao, stranica koju dele drugi i treći trougao ... sve do stranice koju dele predposlednji i poslednji trougao, kao i tačka B.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AAE679-CA09-92CF-5FCD-075F7B8BE6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6582" y="1207654"/>
            <a:ext cx="4936323" cy="4442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25F61B-4B26-19C9-0BE3-5222B44C3FC3}"/>
              </a:ext>
            </a:extLst>
          </p:cNvPr>
          <p:cNvSpPr txBox="1"/>
          <p:nvPr/>
        </p:nvSpPr>
        <p:spPr>
          <a:xfrm>
            <a:off x="6982691" y="5810805"/>
            <a:ext cx="2339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dirty="0"/>
              <a:t>Redosled portala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6980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E8674-3EFD-B34C-1ECE-60944AE7A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7C9C7-4605-ABE3-5AB0-DF6B78FD0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</a:t>
            </a:r>
            <a:r>
              <a:rPr lang="sr-Latn-RS" dirty="0"/>
              <a:t>šenje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99431-F57F-0159-BF5F-4CBD558CF1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3642637" cy="4351337"/>
          </a:xfrm>
        </p:spPr>
        <p:txBody>
          <a:bodyPr/>
          <a:lstStyle/>
          <a:p>
            <a:r>
              <a:rPr lang="sr-Latn-RS" dirty="0"/>
              <a:t>6. Funnel algoritam – Od niza portala možemo dobiti najkraći put između A i B. Ovaj algoritam će biti detaljnije opisan u narednim slajdovima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E796CC-19DA-C174-765E-2ED0994DA8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1636" y="1028541"/>
            <a:ext cx="5870222" cy="528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2820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91BA4-2A70-6AD4-93A7-9F6025273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7124746" cy="1325562"/>
          </a:xfrm>
        </p:spPr>
        <p:txBody>
          <a:bodyPr/>
          <a:lstStyle/>
          <a:p>
            <a:r>
              <a:rPr lang="sr-Latn-RS" dirty="0"/>
              <a:t>Funnel algoritam - detalji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446B6-6E01-42EF-3395-C8CC4FA45A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4085983" cy="435133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sr-Latn-RS" dirty="0"/>
              <a:t>Algoritam postepeno kreira</a:t>
            </a:r>
            <a:r>
              <a:rPr lang="en-US" dirty="0"/>
              <a:t> </a:t>
            </a:r>
            <a:r>
              <a:rPr lang="en-US" dirty="0" err="1"/>
              <a:t>optimalan</a:t>
            </a:r>
            <a:r>
              <a:rPr lang="en-US" dirty="0"/>
              <a:t> put. U </a:t>
            </a:r>
            <a:r>
              <a:rPr lang="en-US" dirty="0" err="1"/>
              <a:t>svakom</a:t>
            </a:r>
            <a:r>
              <a:rPr lang="en-US" dirty="0"/>
              <a:t> </a:t>
            </a:r>
            <a:r>
              <a:rPr lang="en-US" dirty="0" err="1"/>
              <a:t>koraku</a:t>
            </a:r>
            <a:r>
              <a:rPr lang="en-US" dirty="0"/>
              <a:t> </a:t>
            </a:r>
            <a:r>
              <a:rPr lang="sr-Latn-RS" dirty="0"/>
              <a:t>imamo:</a:t>
            </a:r>
          </a:p>
          <a:p>
            <a:r>
              <a:rPr lang="sr-Latn-RS" dirty="0"/>
              <a:t>apex – poslednja tačka u dosad pronađenom putu</a:t>
            </a:r>
          </a:p>
          <a:p>
            <a:r>
              <a:rPr lang="sr-Latn-RS" dirty="0"/>
              <a:t>levi a i desna strana funnel-a</a:t>
            </a:r>
          </a:p>
          <a:p>
            <a:r>
              <a:rPr lang="sr-Latn-RS" dirty="0"/>
              <a:t>trenutni portal</a:t>
            </a:r>
          </a:p>
          <a:p>
            <a:endParaRPr lang="sr-Latn-RS" dirty="0"/>
          </a:p>
          <a:p>
            <a:pPr marL="0" indent="0">
              <a:buNone/>
            </a:pPr>
            <a:r>
              <a:rPr lang="sr-Latn-RS" dirty="0"/>
              <a:t>Na početku, prvi apex je A. Zatim postepeno nalazimo apex-e dok nismo našli ceo put. Poslednji apex će biti tačka B.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18F954-B6DD-BAAD-CF97-709857CAEE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0052" y="1691322"/>
            <a:ext cx="5593131" cy="5033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580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9021F-3481-8BB8-62CD-6B301B3E2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5672B-FA50-909E-4C27-A2EB47ACB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7124746" cy="1325562"/>
          </a:xfrm>
        </p:spPr>
        <p:txBody>
          <a:bodyPr/>
          <a:lstStyle/>
          <a:p>
            <a:r>
              <a:rPr lang="sr-Latn-RS" dirty="0"/>
              <a:t>Funnel algoritam - detalji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1CF6B-A12E-4F33-E206-E165E0B342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9415364" cy="4351337"/>
          </a:xfrm>
        </p:spPr>
        <p:txBody>
          <a:bodyPr/>
          <a:lstStyle/>
          <a:p>
            <a:pPr marL="0" indent="0">
              <a:buNone/>
            </a:pPr>
            <a:r>
              <a:rPr lang="sr-Latn-RS" dirty="0"/>
              <a:t>U svakom koraku algoritma: </a:t>
            </a:r>
          </a:p>
          <a:p>
            <a:r>
              <a:rPr lang="sr-Latn-RS" dirty="0"/>
              <a:t>1. Izaberemo sledeći portal</a:t>
            </a:r>
          </a:p>
          <a:p>
            <a:r>
              <a:rPr lang="sr-Latn-RS" dirty="0"/>
              <a:t>2. Ako portal s leve strane sužava funnel, onda update-ujemo levu stranu</a:t>
            </a:r>
          </a:p>
          <a:p>
            <a:r>
              <a:rPr lang="sr-Latn-RS" dirty="0"/>
              <a:t>3. Ako leva strana prelazi desnu, onda znamo da je desna strana deo puta – našli smo novi apex i resetujemo funnel</a:t>
            </a:r>
          </a:p>
          <a:p>
            <a:r>
              <a:rPr lang="sr-Latn-RS" dirty="0"/>
              <a:t>4. Ako portal s desne strane sužava funnel, onda update-ujemo desnu stranu</a:t>
            </a:r>
          </a:p>
          <a:p>
            <a:r>
              <a:rPr lang="sr-Latn-RS" dirty="0"/>
              <a:t>Ako desna strana prelazi levu, onda znamo da je leva strana deo puta – našli smo novi apex i resetujemo funnel</a:t>
            </a:r>
          </a:p>
          <a:p>
            <a:r>
              <a:rPr lang="sr-Latn-RS" dirty="0"/>
              <a:t>Ako je pronađen apex tačka B onda smo pronašli konačan put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2633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55624-9C38-25AB-562F-1078F1E10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Vremenska složenost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D4035-08EC-C5E5-A8EE-EDA73F8C3C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r-Latn-RS" dirty="0"/>
              <a:t>Imamo:</a:t>
            </a:r>
          </a:p>
          <a:p>
            <a:r>
              <a:rPr lang="sr-Latn-RS" dirty="0"/>
              <a:t>N – broj temena u poligonu P</a:t>
            </a:r>
          </a:p>
          <a:p>
            <a:r>
              <a:rPr lang="sr-Latn-RS" dirty="0"/>
              <a:t>T – proj trouglova nakon triangulacije. Pošto smo koristili ear clipping, ovo je jednako N-2</a:t>
            </a:r>
          </a:p>
          <a:p>
            <a:r>
              <a:rPr lang="sr-Latn-RS" dirty="0"/>
              <a:t>E – proj deljenih ivica trouglova. Pošto je graf stablo ovo je jednako T-1, odnosno N-3</a:t>
            </a:r>
          </a:p>
          <a:p>
            <a:pPr marL="0" indent="0">
              <a:buNone/>
            </a:pPr>
            <a:r>
              <a:rPr lang="sr-Latn-RS" dirty="0"/>
              <a:t>Možemo T i E da tretiramo nao 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3037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24BE8-B52F-363D-7753-E14D9C5FD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97AE0-B4F7-8DF1-53B3-F7329D5CF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Vremenska složenost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D5B7A-1CC4-233C-ED7A-6C4028EE14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r-Latn-RS" dirty="0"/>
              <a:t>Učitavanje poligona:</a:t>
            </a:r>
          </a:p>
          <a:p>
            <a:r>
              <a:rPr lang="sr-Latn-RS" dirty="0"/>
              <a:t>T </a:t>
            </a:r>
            <a:r>
              <a:rPr lang="en-US" dirty="0"/>
              <a:t>= O(N^2) – U</a:t>
            </a:r>
            <a:r>
              <a:rPr lang="sr-Latn-RS" dirty="0"/>
              <a:t>čitavanje je inače O(N), ali aplikacija automatski radi triangulaciju pri učitavanju, što je u najgorem slučaju </a:t>
            </a:r>
            <a:r>
              <a:rPr lang="en-US" dirty="0"/>
              <a:t>O(N^2)</a:t>
            </a:r>
            <a:endParaRPr lang="sr-Latn-RS" dirty="0"/>
          </a:p>
          <a:p>
            <a:r>
              <a:rPr lang="sr-Latn-RS" dirty="0"/>
              <a:t>M </a:t>
            </a:r>
            <a:r>
              <a:rPr lang="en-US" dirty="0"/>
              <a:t>= O(N) – </a:t>
            </a:r>
            <a:r>
              <a:rPr lang="sr-Latn-RS" dirty="0"/>
              <a:t>čuvamo poligon i trouglove</a:t>
            </a:r>
          </a:p>
          <a:p>
            <a:pPr marL="0" indent="0">
              <a:buNone/>
            </a:pPr>
            <a:r>
              <a:rPr lang="sr-Latn-RS" dirty="0"/>
              <a:t>Nalaženje puta:</a:t>
            </a:r>
          </a:p>
          <a:p>
            <a:r>
              <a:rPr lang="sr-Latn-RS" dirty="0"/>
              <a:t>T </a:t>
            </a:r>
            <a:r>
              <a:rPr lang="en-US" dirty="0"/>
              <a:t>= O(N)</a:t>
            </a:r>
            <a:r>
              <a:rPr lang="sr-Latn-RS" dirty="0"/>
              <a:t> – pravljenje grafa je </a:t>
            </a:r>
            <a:r>
              <a:rPr lang="en-US" dirty="0"/>
              <a:t>O(N)</a:t>
            </a:r>
            <a:r>
              <a:rPr lang="sr-Latn-RS" dirty="0"/>
              <a:t>, bfs je </a:t>
            </a:r>
            <a:r>
              <a:rPr lang="en-US" dirty="0"/>
              <a:t>O(N)</a:t>
            </a:r>
            <a:r>
              <a:rPr lang="sr-Latn-RS" dirty="0"/>
              <a:t>, funnel algoritam je </a:t>
            </a:r>
            <a:r>
              <a:rPr lang="en-US" dirty="0"/>
              <a:t>O(N)</a:t>
            </a:r>
            <a:r>
              <a:rPr lang="sr-Latn-RS" dirty="0"/>
              <a:t>.</a:t>
            </a:r>
          </a:p>
          <a:p>
            <a:r>
              <a:rPr lang="sr-Latn-RS" dirty="0"/>
              <a:t>M </a:t>
            </a:r>
            <a:r>
              <a:rPr lang="en-US" dirty="0"/>
              <a:t>= O(N) – </a:t>
            </a:r>
            <a:r>
              <a:rPr lang="en-US" dirty="0" err="1"/>
              <a:t>pravljenje</a:t>
            </a:r>
            <a:r>
              <a:rPr lang="en-US" dirty="0"/>
              <a:t> </a:t>
            </a:r>
            <a:r>
              <a:rPr lang="en-US" dirty="0" err="1"/>
              <a:t>grafikona</a:t>
            </a:r>
            <a:r>
              <a:rPr lang="en-US" dirty="0"/>
              <a:t>, </a:t>
            </a:r>
            <a:r>
              <a:rPr lang="en-US" dirty="0" err="1"/>
              <a:t>niza</a:t>
            </a:r>
            <a:r>
              <a:rPr lang="en-US" dirty="0"/>
              <a:t> </a:t>
            </a:r>
            <a:r>
              <a:rPr lang="en-US" dirty="0" err="1"/>
              <a:t>trouglova</a:t>
            </a:r>
            <a:r>
              <a:rPr lang="en-US" dirty="0"/>
              <a:t> i </a:t>
            </a:r>
            <a:r>
              <a:rPr lang="en-US" dirty="0" err="1"/>
              <a:t>niza</a:t>
            </a:r>
            <a:r>
              <a:rPr lang="en-US" dirty="0"/>
              <a:t> </a:t>
            </a:r>
            <a:r>
              <a:rPr lang="en-US" dirty="0" err="1"/>
              <a:t>portala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36533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2786A-FCA8-AA64-355D-B36AF1625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Aplikacija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A1144-AC93-CED1-8065-FBCEBD08FC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Aplikacija</a:t>
            </a:r>
            <a:r>
              <a:rPr lang="en-US" dirty="0"/>
              <a:t> </a:t>
            </a:r>
            <a:r>
              <a:rPr lang="sr-Latn-RS" dirty="0"/>
              <a:t>može da učitava primere iz fajla i pruži nam solidnu vizuelizaciju algoritma. Kontrole aplikacije su sledeće:</a:t>
            </a:r>
          </a:p>
          <a:p>
            <a:r>
              <a:rPr lang="sr-Latn-RS" dirty="0"/>
              <a:t>R – novi primer: Uzima random poligon i pravi tačke A i B unutar njega nasumično</a:t>
            </a:r>
          </a:p>
          <a:p>
            <a:pPr marL="0" indent="0">
              <a:buNone/>
            </a:pPr>
            <a:r>
              <a:rPr lang="sr-Latn-RS" dirty="0"/>
              <a:t>Ako nismo započeli algoritam, levim i desnim klikom se mogu promeniti gde se nalaze tačke A i B.</a:t>
            </a:r>
          </a:p>
          <a:p>
            <a:r>
              <a:rPr lang="sr-Latn-RS" dirty="0"/>
              <a:t>Leva i desna strelica – šaltanje primera</a:t>
            </a:r>
          </a:p>
          <a:p>
            <a:r>
              <a:rPr lang="sr-Latn-RS" dirty="0"/>
              <a:t>Enter – veliki korak: odmah se odradi trenutni korak/algoritam</a:t>
            </a:r>
          </a:p>
          <a:p>
            <a:r>
              <a:rPr lang="sr-Latn-RS" dirty="0"/>
              <a:t>F – mali korak: odradi se trenutni korak ili sledeća iteracija trenutnog algoritma. Može se držati</a:t>
            </a:r>
          </a:p>
        </p:txBody>
      </p:sp>
    </p:spTree>
    <p:extLst>
      <p:ext uri="{BB962C8B-B14F-4D97-AF65-F5344CB8AC3E}">
        <p14:creationId xmlns:p14="http://schemas.microsoft.com/office/powerpoint/2010/main" val="102535477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Custom 1">
      <a:majorFont>
        <a:latin typeface="Century Gothic"/>
        <a:ea typeface=""/>
        <a:cs typeface=""/>
      </a:majorFont>
      <a:minorFont>
        <a:latin typeface="Cascadia Mono Light"/>
        <a:ea typeface=""/>
        <a:cs typeface="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168</TotalTime>
  <Words>651</Words>
  <Application>Microsoft Office PowerPoint</Application>
  <PresentationFormat>Widescreen</PresentationFormat>
  <Paragraphs>54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Cascadia Mono Light</vt:lpstr>
      <vt:lpstr>Century Gothic</vt:lpstr>
      <vt:lpstr>Wingdings 2</vt:lpstr>
      <vt:lpstr>View</vt:lpstr>
      <vt:lpstr>Funnel Algoritam</vt:lpstr>
      <vt:lpstr>Zadatak</vt:lpstr>
      <vt:lpstr>Rešenje</vt:lpstr>
      <vt:lpstr>Rešenje</vt:lpstr>
      <vt:lpstr>Rešenje</vt:lpstr>
      <vt:lpstr>Rešenje</vt:lpstr>
      <vt:lpstr>Rešenje</vt:lpstr>
      <vt:lpstr>Rešenje</vt:lpstr>
      <vt:lpstr>Funnel algoritam - detalji</vt:lpstr>
      <vt:lpstr>Funnel algoritam - detalji</vt:lpstr>
      <vt:lpstr>Vremenska složenost</vt:lpstr>
      <vt:lpstr>Vremenska složenost</vt:lpstr>
      <vt:lpstr>Aplikacija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george epic</dc:creator>
  <cp:lastModifiedBy>george epic</cp:lastModifiedBy>
  <cp:revision>16</cp:revision>
  <dcterms:created xsi:type="dcterms:W3CDTF">2026-01-22T12:26:26Z</dcterms:created>
  <dcterms:modified xsi:type="dcterms:W3CDTF">2026-01-22T15:43:23Z</dcterms:modified>
</cp:coreProperties>
</file>